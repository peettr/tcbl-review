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An Overview of Tropical Cyclone</a:t>
            </a:r>
            <a:br/>
            <a:r>
              <a:t>Boundary Layer (TCBL) Modeling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017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B4D2FF"/>
                </a:solidFill>
                <a:latin typeface="Calibri"/>
              </a:defRPr>
            </a:pPr>
            <a:r>
              <a:t>From Meteorological Perspectives to Wind Engineering Applications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Calibri"/>
              </a:defRPr>
            </a:pPr>
            <a:r>
              <a:t>Liang Hu  &amp;  Ahsan Kareem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754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4D2FF"/>
                </a:solidFill>
                <a:latin typeface="Calibri"/>
              </a:defRPr>
            </a:pPr>
            <a:r>
              <a:t>NatHaz Modeling Laboratory, University of Notre Dame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486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6B4DC"/>
                </a:solidFill>
                <a:latin typeface="Calibri"/>
              </a:defRPr>
            </a:pPr>
            <a:r>
              <a:t>Advances in Wind Engineering, 2025  |  DOI: 10.1016/j.awe.2025.100097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3366"/>
                </a:solidFill>
                <a:latin typeface="Calibri"/>
              </a:defRPr>
            </a:pPr>
            <a:r>
              <a:t>Outline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515600" cy="36576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1. Introduction &amp; Motivation — PBWE framework, TCBL definition</a:t>
            </a:r>
          </a:p>
          <a:p>
            <a:pPr>
              <a:spcAft>
                <a:spcPts val="8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2. Full-physics TCBL Models — WRF-ARW, HWRF, HWCM, others</a:t>
            </a:r>
          </a:p>
          <a:p>
            <a:pPr>
              <a:spcAft>
                <a:spcPts val="8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3. Diagnostic Models — The core of this review</a:t>
            </a:r>
          </a:p>
          <a:p>
            <a:pPr lvl="1">
              <a:spcAft>
                <a:spcPts val="800"/>
              </a:spcAft>
              <a:defRPr sz="1900">
                <a:solidFill>
                  <a:srgbClr val="646464"/>
                </a:solidFill>
                <a:latin typeface="Calibri"/>
              </a:defRPr>
            </a:pPr>
            <a:r>
              <a:t>3.1  Axisymmetric models</a:t>
            </a:r>
          </a:p>
          <a:p>
            <a:pPr lvl="1">
              <a:spcAft>
                <a:spcPts val="800"/>
              </a:spcAft>
              <a:defRPr sz="1900">
                <a:solidFill>
                  <a:srgbClr val="646464"/>
                </a:solidFill>
                <a:latin typeface="Calibri"/>
              </a:defRPr>
            </a:pPr>
            <a:r>
              <a:t>3.2  Parametric models: empirical &amp; analytical</a:t>
            </a:r>
          </a:p>
          <a:p>
            <a:pPr lvl="1">
              <a:spcAft>
                <a:spcPts val="800"/>
              </a:spcAft>
              <a:defRPr sz="1900">
                <a:solidFill>
                  <a:srgbClr val="646464"/>
                </a:solidFill>
                <a:latin typeface="Calibri"/>
              </a:defRPr>
            </a:pPr>
            <a:r>
              <a:t>3.3–3.6  Simulation-based: 2D-slab → 2D hybrid → 3D nonlinear (KW01)</a:t>
            </a:r>
          </a:p>
          <a:p>
            <a:pPr>
              <a:spcAft>
                <a:spcPts val="8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4. Data-driven Methods — POD, ML-based approaches</a:t>
            </a:r>
          </a:p>
          <a:p>
            <a:pPr>
              <a:spcAft>
                <a:spcPts val="8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5. NatHaz Systematic Investigation — Validation &amp; applications</a:t>
            </a:r>
          </a:p>
          <a:p>
            <a:pPr>
              <a:spcAft>
                <a:spcPts val="8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6. Concluding Remarks — Five research directions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3366"/>
                </a:solidFill>
                <a:latin typeface="Calibri"/>
              </a:defRPr>
            </a:pPr>
            <a:r>
              <a:t>1. Motivation: Why TCBL Modeling?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515600" cy="36576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Tropical cyclones (TCs) produce extreme near-surface winds</a:t>
            </a:r>
          </a:p>
          <a:p>
            <a:pPr>
              <a:spcAft>
                <a:spcPts val="8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Performance-Based Wind Engineering (PBWE) requires accurate wind fields</a:t>
            </a:r>
          </a:p>
          <a:p>
            <a:pPr lvl="1">
              <a:spcAft>
                <a:spcPts val="800"/>
              </a:spcAft>
              <a:defRPr sz="1900">
                <a:solidFill>
                  <a:srgbClr val="646464"/>
                </a:solidFill>
                <a:latin typeface="Calibri"/>
              </a:defRPr>
            </a:pPr>
            <a:r>
              <a:t>PBWE: hazard → aerodynamics → structural → damage → loss</a:t>
            </a:r>
          </a:p>
          <a:p>
            <a:pPr>
              <a:spcAft>
                <a:spcPts val="8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TCBL = lowest 1–2 km of TC atmosphere — where winds impact structures</a:t>
            </a:r>
          </a:p>
          <a:p>
            <a:pPr>
              <a:spcAft>
                <a:spcPts val="8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Key features: low-level jet (LLJ), supergradient winds, inflow angle</a:t>
            </a:r>
          </a:p>
          <a:p>
            <a:pPr>
              <a:spcAft>
                <a:spcPts val="8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Gap: most rigorous TCBL models not yet adopted in PBWE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3366"/>
                </a:solidFill>
                <a:latin typeface="Calibri"/>
              </a:defRPr>
            </a:pPr>
            <a:r>
              <a:t>TCBL Definition &amp; Key Characteristics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515600" cy="36576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TCBL height: typically 500–2000 m, varies with radius and azimuth</a:t>
            </a:r>
          </a:p>
          <a:p>
            <a:pPr>
              <a:spcAft>
                <a:spcPts val="8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Governed by: gradient pressure, Coriolis force, surface friction, turbulent mixing</a:t>
            </a:r>
          </a:p>
          <a:p>
            <a:pPr>
              <a:spcAft>
                <a:spcPts val="8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Low-level jet (LLJ): supergradient winds exceeding gradient wind by 10–25%</a:t>
            </a:r>
          </a:p>
          <a:p>
            <a:pPr>
              <a:spcAft>
                <a:spcPts val="8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Inflow angle: surface wind directed inward, typically 10°–25°</a:t>
            </a:r>
          </a:p>
          <a:p>
            <a:pPr>
              <a:spcAft>
                <a:spcPts val="8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Strong asymmetry: translation speed + land-sea contrast</a:t>
            </a:r>
          </a:p>
          <a:p>
            <a:pPr>
              <a:spcAft>
                <a:spcPts val="8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Recent observations: GPS dropsondes, SFMR, flight-level reconnaissance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3366"/>
                </a:solidFill>
                <a:latin typeface="Calibri"/>
              </a:defRPr>
            </a:pPr>
            <a:r>
              <a:t>TCBL Model Taxonomy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515600" cy="36576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Two major groups:</a:t>
            </a:r>
          </a:p>
          <a:p>
            <a:pPr lvl="1">
              <a:spcAft>
                <a:spcPts val="800"/>
              </a:spcAft>
              <a:defRPr sz="1900">
                <a:solidFill>
                  <a:srgbClr val="646464"/>
                </a:solidFill>
                <a:latin typeface="Calibri"/>
              </a:defRPr>
            </a:pPr>
            <a:r>
              <a:t>Full-physics models: NWP systems (WRF, CM1, etc.)</a:t>
            </a:r>
          </a:p>
          <a:p>
            <a:pPr lvl="1">
              <a:spcAft>
                <a:spcPts val="800"/>
              </a:spcAft>
              <a:defRPr sz="1900">
                <a:solidFill>
                  <a:srgbClr val="646464"/>
                </a:solidFill>
                <a:latin typeface="Calibri"/>
              </a:defRPr>
            </a:pPr>
            <a:r>
              <a:t>  — High fidelity, but too expensive for PBWE Monte Carlo</a:t>
            </a:r>
          </a:p>
          <a:p>
            <a:pPr lvl="1">
              <a:spcAft>
                <a:spcPts val="800"/>
              </a:spcAft>
              <a:defRPr sz="1900">
                <a:solidFill>
                  <a:srgbClr val="646464"/>
                </a:solidFill>
                <a:latin typeface="Calibri"/>
              </a:defRPr>
            </a:pPr>
            <a:r>
              <a:t>Diagnostic models: forced by gradient profiles from track models</a:t>
            </a:r>
          </a:p>
          <a:p>
            <a:pPr lvl="1">
              <a:spcAft>
                <a:spcPts val="800"/>
              </a:spcAft>
              <a:defRPr sz="1900">
                <a:solidFill>
                  <a:srgbClr val="646464"/>
                </a:solidFill>
                <a:latin typeface="Calibri"/>
              </a:defRPr>
            </a:pPr>
            <a:r>
              <a:t>  — Quasi-steady solutions, computationally efficient for PBWE</a:t>
            </a:r>
          </a:p>
          <a:p>
            <a:pPr>
              <a:spcAft>
                <a:spcPts val="800"/>
              </a:spcAft>
              <a:defRPr sz="2200">
                <a:solidFill>
                  <a:srgbClr val="1E1E1E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Diagnostic model classification:</a:t>
            </a:r>
          </a:p>
          <a:p>
            <a:pPr lvl="1">
              <a:spcAft>
                <a:spcPts val="800"/>
              </a:spcAft>
              <a:defRPr sz="1900">
                <a:solidFill>
                  <a:srgbClr val="646464"/>
                </a:solidFill>
                <a:latin typeface="Calibri"/>
              </a:defRPr>
            </a:pPr>
            <a:r>
              <a:t>Parametric (analytical) vs. Simulation-based (numerical)</a:t>
            </a:r>
          </a:p>
          <a:p>
            <a:pPr lvl="1">
              <a:spcAft>
                <a:spcPts val="800"/>
              </a:spcAft>
              <a:defRPr sz="1900">
                <a:solidFill>
                  <a:srgbClr val="646464"/>
                </a:solidFill>
                <a:latin typeface="Calibri"/>
              </a:defRPr>
            </a:pPr>
            <a:r>
              <a:t>Empirical vs. Equation-solving</a:t>
            </a:r>
          </a:p>
          <a:p>
            <a:pPr lvl="1">
              <a:spcAft>
                <a:spcPts val="800"/>
              </a:spcAft>
              <a:defRPr sz="1900">
                <a:solidFill>
                  <a:srgbClr val="646464"/>
                </a:solidFill>
                <a:latin typeface="Calibri"/>
              </a:defRPr>
            </a:pPr>
            <a:r>
              <a:t>Axisymmetric vs. Asymmetric | 2D vs. 3D | Linear vs. Nonlinear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3366"/>
                </a:solidFill>
                <a:latin typeface="Calibri"/>
              </a:defRPr>
            </a:pPr>
            <a:r>
              <a:t>2. Full-physics TCBL Models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515600" cy="36576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WRF-ARW: most widely used; YSU parameterization generally outperforms MYJ</a:t>
            </a:r>
          </a:p>
          <a:p>
            <a:pPr lvl="1">
              <a:spcAft>
                <a:spcPts val="800"/>
              </a:spcAft>
              <a:defRPr sz="1900">
                <a:solidFill>
                  <a:srgbClr val="646464"/>
                </a:solidFill>
                <a:latin typeface="Calibri"/>
              </a:defRPr>
            </a:pPr>
            <a:r>
              <a:t>Key factors: turbulence parameterization, bottom boundary, initial conditions</a:t>
            </a:r>
          </a:p>
          <a:p>
            <a:pPr lvl="1">
              <a:spcAft>
                <a:spcPts val="800"/>
              </a:spcAft>
              <a:defRPr sz="1900">
                <a:solidFill>
                  <a:srgbClr val="646464"/>
                </a:solidFill>
                <a:latin typeface="Calibri"/>
              </a:defRPr>
            </a:pPr>
            <a:r>
              <a:t>Ensemble prediction for uncertainty quantification</a:t>
            </a:r>
          </a:p>
          <a:p>
            <a:pPr>
              <a:spcAft>
                <a:spcPts val="8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HWRF: operational forecasting; continuous improvements in vertical diffusion</a:t>
            </a:r>
          </a:p>
          <a:p>
            <a:pPr>
              <a:spcAft>
                <a:spcPts val="8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HWCM: hybrid approach combining WRF with analytical vortex</a:t>
            </a:r>
          </a:p>
          <a:p>
            <a:pPr>
              <a:spcAft>
                <a:spcPts val="8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Other models: GFS, GFDL, CM1/LES, COAMPS</a:t>
            </a:r>
          </a:p>
          <a:p>
            <a:pPr>
              <a:spcAft>
                <a:spcPts val="8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Limitation: computational cost prohibits Monte Carlo simulation for PBWE</a:t>
            </a:r>
          </a:p>
          <a:p>
            <a:pPr>
              <a:spcAft>
                <a:spcPts val="8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Future: accuracy &amp; efficiency improvements may enable PBWE use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3366"/>
                </a:solidFill>
                <a:latin typeface="Calibri"/>
              </a:defRPr>
            </a:pPr>
            <a:r>
              <a:t>3.1 Axisymmetric Models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515600" cy="36576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Hybrid models (Smith 1968, Kepert 2010b)</a:t>
            </a:r>
          </a:p>
          <a:p>
            <a:pPr lvl="1">
              <a:spcAft>
                <a:spcPts val="800"/>
              </a:spcAft>
              <a:defRPr sz="1900">
                <a:solidFill>
                  <a:srgbClr val="646464"/>
                </a:solidFill>
                <a:latin typeface="Calibri"/>
              </a:defRPr>
            </a:pPr>
            <a:r>
              <a:t>Parametrized vertical profiles + simulation-based solution</a:t>
            </a:r>
          </a:p>
          <a:p>
            <a:pPr>
              <a:spcAft>
                <a:spcPts val="8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Height-averaged models (Smith 2003, Smith &amp; Vogl 2008)</a:t>
            </a:r>
          </a:p>
          <a:p>
            <a:pPr lvl="1">
              <a:spcAft>
                <a:spcPts val="800"/>
              </a:spcAft>
              <a:defRPr sz="1900">
                <a:solidFill>
                  <a:srgbClr val="646464"/>
                </a:solidFill>
                <a:latin typeface="Calibri"/>
              </a:defRPr>
            </a:pPr>
            <a:r>
              <a:t>Integrate primitive equations over TCBL depth → 1D ODEs</a:t>
            </a:r>
          </a:p>
          <a:p>
            <a:pPr>
              <a:spcAft>
                <a:spcPts val="8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Nonlinear analytical (Kuo 1982)</a:t>
            </a:r>
          </a:p>
          <a:p>
            <a:pPr lvl="1">
              <a:spcAft>
                <a:spcPts val="800"/>
              </a:spcAft>
              <a:defRPr sz="1900">
                <a:solidFill>
                  <a:srgbClr val="646464"/>
                </a:solidFill>
                <a:latin typeface="Calibri"/>
              </a:defRPr>
            </a:pPr>
            <a:r>
              <a:t>Complex variable transformation → power series solution</a:t>
            </a:r>
          </a:p>
          <a:p>
            <a:pPr>
              <a:spcAft>
                <a:spcPts val="8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Linear analytical (Meng et al. 1995)</a:t>
            </a:r>
          </a:p>
          <a:p>
            <a:pPr lvl="1">
              <a:spcAft>
                <a:spcPts val="800"/>
              </a:spcAft>
              <a:defRPr sz="1900">
                <a:solidFill>
                  <a:srgbClr val="646464"/>
                </a:solidFill>
                <a:latin typeface="Calibri"/>
              </a:defRPr>
            </a:pPr>
            <a:r>
              <a:t>Linearized advection → semi-analytical Ekman-type solution</a:t>
            </a:r>
          </a:p>
          <a:p>
            <a:pPr lvl="1">
              <a:spcAft>
                <a:spcPts val="800"/>
              </a:spcAft>
              <a:defRPr sz="1900">
                <a:solidFill>
                  <a:srgbClr val="646464"/>
                </a:solidFill>
                <a:latin typeface="Calibri"/>
              </a:defRPr>
            </a:pPr>
            <a:r>
              <a:t>Foundation for K01 asymmetric model (wavenumber-0 component)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3366"/>
                </a:solidFill>
                <a:latin typeface="Calibri"/>
              </a:defRPr>
            </a:pPr>
            <a:r>
              <a:t>3.2 Parametric Models (I): Empirical Methods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515600" cy="36576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Gradient pressure/wind profiles:</a:t>
            </a:r>
          </a:p>
          <a:p>
            <a:pPr lvl="1">
              <a:spcAft>
                <a:spcPts val="800"/>
              </a:spcAft>
              <a:defRPr sz="1900">
                <a:solidFill>
                  <a:srgbClr val="646464"/>
                </a:solidFill>
                <a:latin typeface="Calibri"/>
              </a:defRPr>
            </a:pPr>
            <a:r>
              <a:t>Axisymmetric: Holland (1980), Willoughby (2006), Emanuel (2004)</a:t>
            </a:r>
          </a:p>
          <a:p>
            <a:pPr lvl="1">
              <a:spcAft>
                <a:spcPts val="800"/>
              </a:spcAft>
              <a:defRPr sz="1900">
                <a:solidFill>
                  <a:srgbClr val="646464"/>
                </a:solidFill>
                <a:latin typeface="Calibri"/>
              </a:defRPr>
            </a:pPr>
            <a:r>
              <a:t>Asymmetric: Xie et al. (2006), Georgiou (1985)</a:t>
            </a:r>
          </a:p>
          <a:p>
            <a:pPr>
              <a:spcAft>
                <a:spcPts val="8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TC track models:</a:t>
            </a:r>
          </a:p>
          <a:p>
            <a:pPr lvl="1">
              <a:spcAft>
                <a:spcPts val="800"/>
              </a:spcAft>
              <a:defRPr sz="1900">
                <a:solidFill>
                  <a:srgbClr val="646464"/>
                </a:solidFill>
                <a:latin typeface="Calibri"/>
              </a:defRPr>
            </a:pPr>
            <a:r>
              <a:t>Circular sub-region method, Full-track method (Vickery et al. 2000)</a:t>
            </a:r>
          </a:p>
          <a:p>
            <a:pPr>
              <a:spcAft>
                <a:spcPts val="8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Vertical wind profile models:</a:t>
            </a:r>
          </a:p>
          <a:p>
            <a:pPr lvl="1">
              <a:spcAft>
                <a:spcPts val="800"/>
              </a:spcAft>
              <a:defRPr sz="1900">
                <a:solidFill>
                  <a:srgbClr val="646464"/>
                </a:solidFill>
                <a:latin typeface="Calibri"/>
              </a:defRPr>
            </a:pPr>
            <a:r>
              <a:t>Surface Wind Reduction Factor (SWRF)</a:t>
            </a:r>
          </a:p>
          <a:p>
            <a:pPr lvl="1">
              <a:spcAft>
                <a:spcPts val="800"/>
              </a:spcAft>
              <a:defRPr sz="1900">
                <a:solidFill>
                  <a:srgbClr val="646464"/>
                </a:solidFill>
                <a:latin typeface="Calibri"/>
              </a:defRPr>
            </a:pPr>
            <a:r>
              <a:t>TCBL profile models — empirical height-dependent adjustment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3366"/>
                </a:solidFill>
                <a:latin typeface="Calibri"/>
              </a:defRPr>
            </a:pPr>
            <a:r>
              <a:t>3.3 Parametric Models (II): Analytical Linear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515600" cy="36576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K01 model (Kepert 2001):</a:t>
            </a:r>
          </a:p>
          <a:p>
            <a:pPr lvl="1">
              <a:spcAft>
                <a:spcPts val="800"/>
              </a:spcAft>
              <a:defRPr sz="1900">
                <a:solidFill>
                  <a:srgbClr val="646464"/>
                </a:solidFill>
                <a:latin typeface="Calibri"/>
              </a:defRPr>
            </a:pPr>
            <a:r>
              <a:t>3D linear asymmetric — the benchmark analytical TCBL model</a:t>
            </a:r>
          </a:p>
          <a:p>
            <a:pPr lvl="1">
              <a:spcAft>
                <a:spcPts val="800"/>
              </a:spcAft>
              <a:defRPr sz="1900">
                <a:solidFill>
                  <a:srgbClr val="646464"/>
                </a:solidFill>
                <a:latin typeface="Calibri"/>
              </a:defRPr>
            </a:pPr>
            <a:r>
              <a:t>Wavenumber decomposition: wn-0 (axisymmetric) + wn-1 (translation)</a:t>
            </a:r>
          </a:p>
          <a:p>
            <a:pPr>
              <a:spcAft>
                <a:spcPts val="8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Axisymmetric model accounting for asymmetry (Meng et al. 1995):</a:t>
            </a:r>
          </a:p>
          <a:p>
            <a:pPr lvl="1">
              <a:spcAft>
                <a:spcPts val="800"/>
              </a:spcAft>
              <a:defRPr sz="1900">
                <a:solidFill>
                  <a:srgbClr val="646464"/>
                </a:solidFill>
                <a:latin typeface="Calibri"/>
              </a:defRPr>
            </a:pPr>
            <a:r>
              <a:t>Column model applied at each azimuth with asymmetric gradient wind</a:t>
            </a:r>
          </a:p>
          <a:p>
            <a:pPr>
              <a:spcAft>
                <a:spcPts val="8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Recent developments:</a:t>
            </a:r>
          </a:p>
          <a:p>
            <a:pPr lvl="1">
              <a:spcAft>
                <a:spcPts val="800"/>
              </a:spcAft>
              <a:defRPr sz="1900">
                <a:solidFill>
                  <a:srgbClr val="646464"/>
                </a:solidFill>
                <a:latin typeface="Calibri"/>
              </a:defRPr>
            </a:pPr>
            <a:r>
              <a:t>Height-dependent diffusivity, wind-dependent drag coefficients</a:t>
            </a:r>
          </a:p>
          <a:p>
            <a:pPr lvl="1">
              <a:spcAft>
                <a:spcPts val="800"/>
              </a:spcAft>
              <a:defRPr sz="1900">
                <a:solidFill>
                  <a:srgbClr val="646464"/>
                </a:solidFill>
                <a:latin typeface="Calibri"/>
              </a:defRPr>
            </a:pPr>
            <a:r>
              <a:t>Semi-analytical solutions for thermal effects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3366"/>
                </a:solidFill>
                <a:latin typeface="Calibri"/>
              </a:defRPr>
            </a:pPr>
            <a:r>
              <a:t>3.4–3.5 Simulation-based: 2D-slab &amp; 2D Hybrid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515600" cy="36576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2D-slab model:</a:t>
            </a:r>
          </a:p>
          <a:p>
            <a:pPr lvl="1">
              <a:spcAft>
                <a:spcPts val="800"/>
              </a:spcAft>
              <a:defRPr sz="1900">
                <a:solidFill>
                  <a:srgbClr val="646464"/>
                </a:solidFill>
                <a:latin typeface="Calibri"/>
              </a:defRPr>
            </a:pPr>
            <a:r>
              <a:t>Height-averaged primitive equations → finite difference solution</a:t>
            </a:r>
          </a:p>
          <a:p>
            <a:pPr lvl="1">
              <a:spcAft>
                <a:spcPts val="800"/>
              </a:spcAft>
              <a:defRPr sz="1900">
                <a:solidFill>
                  <a:srgbClr val="646464"/>
                </a:solidFill>
                <a:latin typeface="Calibri"/>
              </a:defRPr>
            </a:pPr>
            <a:r>
              <a:t>Widely used in PBWE (Vickery et al. 2000, Snaiki &amp; Wu 2017)</a:t>
            </a:r>
          </a:p>
          <a:p>
            <a:pPr lvl="1">
              <a:spcAft>
                <a:spcPts val="800"/>
              </a:spcAft>
              <a:defRPr sz="1900">
                <a:solidFill>
                  <a:srgbClr val="646464"/>
                </a:solidFill>
                <a:latin typeface="Calibri"/>
              </a:defRPr>
            </a:pPr>
            <a:r>
              <a:t>Limitation: no vertical structure, empirical corrections needed</a:t>
            </a:r>
          </a:p>
          <a:p>
            <a:pPr>
              <a:spcAft>
                <a:spcPts val="800"/>
              </a:spcAft>
              <a:defRPr sz="2200">
                <a:solidFill>
                  <a:srgbClr val="1E1E1E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2D hybrid model:</a:t>
            </a:r>
          </a:p>
          <a:p>
            <a:pPr lvl="1">
              <a:spcAft>
                <a:spcPts val="800"/>
              </a:spcAft>
              <a:defRPr sz="1900">
                <a:solidFill>
                  <a:srgbClr val="646464"/>
                </a:solidFill>
                <a:latin typeface="Calibri"/>
              </a:defRPr>
            </a:pPr>
            <a:r>
              <a:t>Prescribed vertical profiles combined with 2D horizontal solution</a:t>
            </a:r>
          </a:p>
          <a:p>
            <a:pPr lvl="1">
              <a:spcAft>
                <a:spcPts val="800"/>
              </a:spcAft>
              <a:defRPr sz="1900">
                <a:solidFill>
                  <a:srgbClr val="646464"/>
                </a:solidFill>
                <a:latin typeface="Calibri"/>
              </a:defRPr>
            </a:pPr>
            <a:r>
              <a:t>Bridge between 2D-slab and full 3D models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3366"/>
                </a:solidFill>
                <a:latin typeface="Calibri"/>
              </a:defRPr>
            </a:pPr>
            <a:r>
              <a:t>3.6 The 3D Nonlinear Model (KW01) ⭐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515600" cy="36576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KW01 (Kepert &amp; Wang 2001): most rigorous diagnostic TCBL model</a:t>
            </a:r>
          </a:p>
          <a:p>
            <a:pPr lvl="1">
              <a:spcAft>
                <a:spcPts val="800"/>
              </a:spcAft>
              <a:defRPr sz="1900">
                <a:solidFill>
                  <a:srgbClr val="646464"/>
                </a:solidFill>
                <a:latin typeface="Calibri"/>
              </a:defRPr>
            </a:pPr>
            <a:r>
              <a:t>Full nonlinear primitive equations in cylindrical coordinates</a:t>
            </a:r>
          </a:p>
          <a:p>
            <a:pPr lvl="1">
              <a:spcAft>
                <a:spcPts val="800"/>
              </a:spcAft>
              <a:defRPr sz="1900">
                <a:solidFill>
                  <a:srgbClr val="646464"/>
                </a:solidFill>
                <a:latin typeface="Calibri"/>
              </a:defRPr>
            </a:pPr>
            <a:r>
              <a:t>Resolves vertical structure — captures LLJ, inflow angle profiles</a:t>
            </a:r>
          </a:p>
          <a:p>
            <a:pPr>
              <a:spcAft>
                <a:spcPts val="8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Key physics:</a:t>
            </a:r>
          </a:p>
          <a:p>
            <a:pPr lvl="1">
              <a:spcAft>
                <a:spcPts val="800"/>
              </a:spcAft>
              <a:defRPr sz="1900">
                <a:solidFill>
                  <a:srgbClr val="646464"/>
                </a:solidFill>
                <a:latin typeface="Calibri"/>
              </a:defRPr>
            </a:pPr>
            <a:r>
              <a:t>Turbulence closure: Mellor-Yamada, Louis schemes</a:t>
            </a:r>
          </a:p>
          <a:p>
            <a:pPr lvl="1">
              <a:spcAft>
                <a:spcPts val="800"/>
              </a:spcAft>
              <a:defRPr sz="1900">
                <a:solidFill>
                  <a:srgbClr val="646464"/>
                </a:solidFill>
                <a:latin typeface="Calibri"/>
              </a:defRPr>
            </a:pPr>
            <a:r>
              <a:t>Vertical advection contributes ~50% of LLJ magnitude</a:t>
            </a:r>
          </a:p>
          <a:p>
            <a:pPr lvl="1">
              <a:spcAft>
                <a:spcPts val="800"/>
              </a:spcAft>
              <a:defRPr sz="1900">
                <a:solidFill>
                  <a:srgbClr val="646464"/>
                </a:solidFill>
                <a:latin typeface="Calibri"/>
              </a:defRPr>
            </a:pPr>
            <a:r>
              <a:t>Landfall: land-sea roughness contrast modifies wind asymmetry</a:t>
            </a:r>
          </a:p>
          <a:p>
            <a:pPr>
              <a:spcAft>
                <a:spcPts val="8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Comparison: outperforms 2D-slab and parametric models</a:t>
            </a:r>
          </a:p>
          <a:p>
            <a:pPr>
              <a:spcAft>
                <a:spcPts val="8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Benchmark for evaluating all lower-level diagnostic models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3366"/>
                </a:solidFill>
                <a:latin typeface="Calibri"/>
              </a:defRPr>
            </a:pPr>
            <a:r>
              <a:t>4. Data-driven Methods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515600" cy="36576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Modifying radial profiles:</a:t>
            </a:r>
          </a:p>
          <a:p>
            <a:pPr lvl="1">
              <a:spcAft>
                <a:spcPts val="800"/>
              </a:spcAft>
              <a:defRPr sz="1900">
                <a:solidFill>
                  <a:srgbClr val="646464"/>
                </a:solidFill>
                <a:latin typeface="Calibri"/>
              </a:defRPr>
            </a:pPr>
            <a:r>
              <a:t>Adjust parametric profiles using observational data</a:t>
            </a:r>
          </a:p>
          <a:p>
            <a:pPr>
              <a:spcAft>
                <a:spcPts val="8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Introducing additional asymmetries:</a:t>
            </a:r>
          </a:p>
          <a:p>
            <a:pPr lvl="1">
              <a:spcAft>
                <a:spcPts val="800"/>
              </a:spcAft>
              <a:defRPr sz="1900">
                <a:solidFill>
                  <a:srgbClr val="646464"/>
                </a:solidFill>
                <a:latin typeface="Calibri"/>
              </a:defRPr>
            </a:pPr>
            <a:r>
              <a:t>Beyond translation-induced: environmental shear, land effects</a:t>
            </a:r>
          </a:p>
          <a:p>
            <a:pPr>
              <a:spcAft>
                <a:spcPts val="8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POD-based models:</a:t>
            </a:r>
          </a:p>
          <a:p>
            <a:pPr lvl="1">
              <a:spcAft>
                <a:spcPts val="800"/>
              </a:spcAft>
              <a:defRPr sz="1900">
                <a:solidFill>
                  <a:srgbClr val="646464"/>
                </a:solidFill>
                <a:latin typeface="Calibri"/>
              </a:defRPr>
            </a:pPr>
            <a:r>
              <a:t>TARGET(t) = mean field + Σ Wi(t)·PCi</a:t>
            </a:r>
          </a:p>
          <a:p>
            <a:pPr lvl="1">
              <a:spcAft>
                <a:spcPts val="800"/>
              </a:spcAft>
              <a:defRPr sz="1900">
                <a:solidFill>
                  <a:srgbClr val="646464"/>
                </a:solidFill>
                <a:latin typeface="Calibri"/>
              </a:defRPr>
            </a:pPr>
            <a:r>
              <a:t>Decompose wind fields into orthogonal modes</a:t>
            </a:r>
          </a:p>
          <a:p>
            <a:pPr>
              <a:spcAft>
                <a:spcPts val="8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Promising direction: combine physics-based TCBL models with ML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3366"/>
                </a:solidFill>
                <a:latin typeface="Calibri"/>
              </a:defRPr>
            </a:pPr>
            <a:r>
              <a:t>5. NatHaz Systematic Investigation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515600" cy="36576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Goal: bridge meteorological TCBL modeling → wind engineering (PBWE)</a:t>
            </a:r>
          </a:p>
          <a:p>
            <a:pPr>
              <a:spcAft>
                <a:spcPts val="800"/>
              </a:spcAft>
              <a:defRPr sz="2200">
                <a:solidFill>
                  <a:srgbClr val="1E1E1E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Four components:</a:t>
            </a:r>
          </a:p>
          <a:p>
            <a:pPr lvl="1">
              <a:spcAft>
                <a:spcPts val="800"/>
              </a:spcAft>
              <a:defRPr sz="1900">
                <a:solidFill>
                  <a:srgbClr val="646464"/>
                </a:solidFill>
                <a:latin typeface="Calibri"/>
              </a:defRPr>
            </a:pPr>
            <a:r>
              <a:t>(1) Model sensitivity: effects of algorithm, thermal, diffusivity, drag</a:t>
            </a:r>
          </a:p>
          <a:p>
            <a:pPr lvl="1">
              <a:spcAft>
                <a:spcPts val="800"/>
              </a:spcAft>
              <a:defRPr sz="1900">
                <a:solidFill>
                  <a:srgbClr val="646464"/>
                </a:solidFill>
                <a:latin typeface="Calibri"/>
              </a:defRPr>
            </a:pPr>
            <a:r>
              <a:t>(2) Benchmark dataset: 692 sorties (Flight+ input, surface/SFMR/H*Wind output)</a:t>
            </a:r>
          </a:p>
          <a:p>
            <a:pPr lvl="1">
              <a:spcAft>
                <a:spcPts val="800"/>
              </a:spcAft>
              <a:defRPr sz="1900">
                <a:solidFill>
                  <a:srgbClr val="646464"/>
                </a:solidFill>
                <a:latin typeface="Calibri"/>
              </a:defRPr>
            </a:pPr>
            <a:r>
              <a:t>(3) Hierarchy of linear models as fast approximations of KW01</a:t>
            </a:r>
          </a:p>
          <a:p>
            <a:pPr lvl="1">
              <a:spcAft>
                <a:spcPts val="800"/>
              </a:spcAft>
              <a:defRPr sz="1900">
                <a:solidFill>
                  <a:srgbClr val="646464"/>
                </a:solidFill>
                <a:latin typeface="Calibri"/>
              </a:defRPr>
            </a:pPr>
            <a:r>
              <a:t>(4) Land-sea roughness contrast: ~22% overall, ~14% surface wind change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3366"/>
                </a:solidFill>
                <a:latin typeface="Calibri"/>
              </a:defRPr>
            </a:pPr>
            <a:r>
              <a:t>6. Concluding Remarks: Five Research Directions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515600" cy="36576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1. Incorporate 3D nonlinear model into PBWE</a:t>
            </a:r>
          </a:p>
          <a:p>
            <a:pPr lvl="1">
              <a:spcAft>
                <a:spcPts val="800"/>
              </a:spcAft>
              <a:defRPr sz="1900">
                <a:solidFill>
                  <a:srgbClr val="646464"/>
                </a:solidFill>
                <a:latin typeface="Calibri"/>
              </a:defRPr>
            </a:pPr>
            <a:r>
              <a:t>Uncertainty quantification, alternative radial profiles, model benchmarking</a:t>
            </a:r>
          </a:p>
          <a:p>
            <a:pPr>
              <a:spcAft>
                <a:spcPts val="8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2. Microscale phenomena from TCBL outputs</a:t>
            </a:r>
          </a:p>
          <a:p>
            <a:pPr lvl="1">
              <a:spcAft>
                <a:spcPts val="800"/>
              </a:spcAft>
              <a:defRPr sz="1900">
                <a:solidFill>
                  <a:srgbClr val="646464"/>
                </a:solidFill>
                <a:latin typeface="Calibri"/>
              </a:defRPr>
            </a:pPr>
            <a:r>
              <a:t>Rainbands, tornado-scale vortices, urban canopy flow</a:t>
            </a:r>
          </a:p>
          <a:p>
            <a:pPr>
              <a:spcAft>
                <a:spcPts val="8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3. TCBL model uncertainty → PBWE metrics</a:t>
            </a:r>
          </a:p>
          <a:p>
            <a:pPr lvl="1">
              <a:spcAft>
                <a:spcPts val="800"/>
              </a:spcAft>
              <a:defRPr sz="1900">
                <a:solidFill>
                  <a:srgbClr val="646464"/>
                </a:solidFill>
                <a:latin typeface="Calibri"/>
              </a:defRPr>
            </a:pPr>
            <a:r>
              <a:t>Annual maximum wind speeds, loss ratios</a:t>
            </a:r>
          </a:p>
          <a:p>
            <a:pPr>
              <a:spcAft>
                <a:spcPts val="8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4. Expand benchmark dataset</a:t>
            </a:r>
          </a:p>
          <a:p>
            <a:pPr lvl="1">
              <a:spcAft>
                <a:spcPts val="800"/>
              </a:spcAft>
              <a:defRPr sz="1900">
                <a:solidFill>
                  <a:srgbClr val="646464"/>
                </a:solidFill>
                <a:latin typeface="Calibri"/>
              </a:defRPr>
            </a:pPr>
            <a:r>
              <a:t>SAR, SMAP, MTCSWA; improved dropsonde calibration</a:t>
            </a:r>
          </a:p>
          <a:p>
            <a:pPr>
              <a:spcAft>
                <a:spcPts val="8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5. Data-driven model development</a:t>
            </a:r>
          </a:p>
          <a:p>
            <a:pPr lvl="1">
              <a:spcAft>
                <a:spcPts val="800"/>
              </a:spcAft>
              <a:defRPr sz="1900">
                <a:solidFill>
                  <a:srgbClr val="646464"/>
                </a:solidFill>
                <a:latin typeface="Calibri"/>
              </a:defRPr>
            </a:pPr>
            <a:r>
              <a:t>ML-based asymmetry, multi-fidelity modeling, surrogates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B4D2FF"/>
                </a:solidFill>
                <a:latin typeface="Calibri"/>
              </a:defRPr>
            </a:pPr>
            <a:r>
              <a:t>Interactive version: peettr.github.io/tcbl-review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931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6B4DC"/>
                </a:solidFill>
                <a:latin typeface="Calibri"/>
              </a:defRPr>
            </a:pPr>
            <a:r>
              <a:t>DOI: 10.1016/j.awe.2025.100097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4D2FF"/>
                </a:solidFill>
                <a:latin typeface="Calibri"/>
              </a:defRPr>
            </a:pPr>
            <a:r>
              <a:t>Liang Hu &amp; Ahsan Kareem</a:t>
            </a:r>
            <a:br/>
            <a:r>
              <a:t>NatHaz Modeling Laboratory, University of Notre Dame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